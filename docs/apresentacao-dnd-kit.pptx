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c6b15806d4060" /><Relationship Type="http://schemas.openxmlformats.org/officeDocument/2006/relationships/extended-properties" Target="/docProps/app.xml" Id="R1b037ef69a7d47e3" /><Relationship Type="http://schemas.openxmlformats.org/officeDocument/2006/relationships/officeDocument" Target="/ppt/presentation.xml" Id="R692cca1f5685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6d54adc220435b"/>
  </p:sldMasterIdLst>
  <p:notesMasterIdLst>
    <p:notesMasterId xmlns:r="http://schemas.openxmlformats.org/officeDocument/2006/relationships" r:id="Rd913dac07fc748d6"/>
  </p:notesMasterIdLst>
  <p:sldIdLst>
    <p:sldId xmlns:r="http://schemas.openxmlformats.org/officeDocument/2006/relationships" id="256" r:id="Rf5da2621b72d48d7"/>
    <p:sldId xmlns:r="http://schemas.openxmlformats.org/officeDocument/2006/relationships" id="257" r:id="R67c6b945683140f1"/>
    <p:sldId xmlns:r="http://schemas.openxmlformats.org/officeDocument/2006/relationships" id="258" r:id="R707212444eec4774"/>
    <p:sldId xmlns:r="http://schemas.openxmlformats.org/officeDocument/2006/relationships" id="259" r:id="Ra094f63a5f8c40a4"/>
    <p:sldId xmlns:r="http://schemas.openxmlformats.org/officeDocument/2006/relationships" id="260" r:id="Rbde859fe76094fd3"/>
    <p:sldId xmlns:r="http://schemas.openxmlformats.org/officeDocument/2006/relationships" id="261" r:id="R4fe40d69f5c04b25"/>
    <p:sldId xmlns:r="http://schemas.openxmlformats.org/officeDocument/2006/relationships" id="262" r:id="R5b985b212d614558"/>
    <p:sldId xmlns:r="http://schemas.openxmlformats.org/officeDocument/2006/relationships" id="263" r:id="R7e134dbfb91b4c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13e21c4144090" /><Relationship Type="http://schemas.openxmlformats.org/officeDocument/2006/relationships/slideMaster" Target="/ppt/slideMasters/slideMaster1.xml" Id="R1a6d54adc220435b" /><Relationship Type="http://schemas.openxmlformats.org/officeDocument/2006/relationships/notesMaster" Target="/ppt/notesMasters/notesMaster1.xml" Id="Rd913dac07fc748d6" /><Relationship Type="http://schemas.openxmlformats.org/officeDocument/2006/relationships/presProps" Target="/ppt/presProps.xml" Id="Re14bc3e197fc4a8a" /><Relationship Type="http://schemas.openxmlformats.org/officeDocument/2006/relationships/tableStyles" Target="/ppt/tableStyles.xml" Id="R3ef924a43ea0402f" /><Relationship Type="http://schemas.openxmlformats.org/officeDocument/2006/relationships/slide" Target="/ppt/slides/slide1.xml" Id="Rf5da2621b72d48d7" /><Relationship Type="http://schemas.openxmlformats.org/officeDocument/2006/relationships/slide" Target="/ppt/slides/slide2.xml" Id="R67c6b945683140f1" /><Relationship Type="http://schemas.openxmlformats.org/officeDocument/2006/relationships/slide" Target="/ppt/slides/slide3.xml" Id="R707212444eec4774" /><Relationship Type="http://schemas.openxmlformats.org/officeDocument/2006/relationships/slide" Target="/ppt/slides/slide4.xml" Id="Ra094f63a5f8c40a4" /><Relationship Type="http://schemas.openxmlformats.org/officeDocument/2006/relationships/slide" Target="/ppt/slides/slide5.xml" Id="Rbde859fe76094fd3" /><Relationship Type="http://schemas.openxmlformats.org/officeDocument/2006/relationships/slide" Target="/ppt/slides/slide6.xml" Id="R4fe40d69f5c04b25" /><Relationship Type="http://schemas.openxmlformats.org/officeDocument/2006/relationships/slide" Target="/ppt/slides/slide7.xml" Id="R5b985b212d614558" /><Relationship Type="http://schemas.openxmlformats.org/officeDocument/2006/relationships/slide" Target="/ppt/slides/slide8.xml" Id="R7e134dbfb91b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ea1493a4042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486509ec94a1d" /><Relationship Type="http://schemas.openxmlformats.org/officeDocument/2006/relationships/notesMaster" Target="/ppt/notesMasters/notesMaster1.xml" Id="Rb65d9da754b643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9f4e6e8d844c2" /><Relationship Type="http://schemas.openxmlformats.org/officeDocument/2006/relationships/notesMaster" Target="/ppt/notesMasters/notesMaster1.xml" Id="R9c547b8999dc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961bbfcd748a7" /><Relationship Type="http://schemas.openxmlformats.org/officeDocument/2006/relationships/notesMaster" Target="/ppt/notesMasters/notesMaster1.xml" Id="Rab44aacaf8f3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64bfeeaa64474f" /><Relationship Type="http://schemas.openxmlformats.org/officeDocument/2006/relationships/notesMaster" Target="/ppt/notesMasters/notesMaster1.xml" Id="R6e182ad026264a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5011e09014c25" /><Relationship Type="http://schemas.openxmlformats.org/officeDocument/2006/relationships/notesMaster" Target="/ppt/notesMasters/notesMaster1.xml" Id="Re398cf5e9cba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32024a1e54875" /><Relationship Type="http://schemas.openxmlformats.org/officeDocument/2006/relationships/notesMaster" Target="/ppt/notesMasters/notesMaster1.xml" Id="R7e9d72b703dd4d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0aedd64e1a48e7" /><Relationship Type="http://schemas.openxmlformats.org/officeDocument/2006/relationships/notesMaster" Target="/ppt/notesMasters/notesMaster1.xml" Id="R3e1dc33c0cd647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a9efbc4563448f" /><Relationship Type="http://schemas.openxmlformats.org/officeDocument/2006/relationships/notesMaster" Target="/ppt/notesMasters/notesMaster1.xml" Id="Rad0d3f60fbbf4f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tema: gerenciamento de listas com drag and drop, que significa arrastar e soltar. Explique que o projeto tem uma única página e demonstra o funcionamento básico do pacote em React. Duração sugerida da apresentação: cinco a sete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dnd-kit é um conjunto de ferramentas para drag and drop. Neste trabalho usamos a integração @dnd-kit/react 0.5.1. O pacote coordena a interação, mas a aplicação controla o estado e a persistência. Exemplos comuns: quadros Kanban e listas de prioridades. Referência: https://dndkit.com/react/quickstart/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projeto no navegador. Mostre as três listas fixas e os seis cartões iniciais. O campo Nova tarefa adiciona um cartão em A fazer. Os pontinhos são a alça de arraste. O botão Reiniciar exemplo restaura os dados iniciais. Esta imagem mostra a página real do projeto. Para executar o código: npm install e npm run dev. Referência da estrutura de múltiplas listas: https://dndkit.com/react/guides/multiple-sortable-lists/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recurso com o arquivo correspondente. DragDropProvider está em App.jsx. useSortable está em TaskCard.jsx. useDroppable está em BoardColumn.jsx. A função move vem de @dnd-kit/helpers e calcula a próxima organização dos arrays. Referências: https://dndkit.com/react/components/drag-drop-provider/ e https://dndkit.com/react/hooks/use-sortable/ e https://dndkit.com/react/guides/multiple-sortable-lists/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trecho central de TaskCard.jsx. id é o identificador único do cartão. index representa sua posição e group informa a lista atual. ref conecta o cartão e handleRef conecta o botão dos pontinhos. O arquivo completo também configura type e accept para restringir o tipo de destino e Feedback com clone para manter uma cópia visual durante o arraste entre listas. O trecho no slide destaca apenas as propriedades centrais. Referência: https://dndkit.com/react/hooks/use-sortable/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App.jsx. onDragStart guarda uma referência do estado anterior, pois move devolve novos arrays sem alterar a origem. onDragOver chama move e atualiza tasks. O preventDefault impede uma reordenação automática do DOM enquanto o React cuida da ordem dos cartões. onDragEnd restaura a referência se o usuário pressiona Esc ou solta fora de um destino. Os dados ficam no useState. Referências: https://dndkit.com/react/components/drag-drop-provider/ e https://dndkit.com/concepts/sortable/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demonstração nesta ordem. Adicione Apresentar o projeto. Mude a posição de Preparar os slides. Transfira o cartão para Em andamento. Mova a tarefa de Concluído para fora e de volta para mostrar uma lista vazia. Inicie um arraste e pressione Esc. Se houver tempo, mostre o uso do teclado. Ao fim, explique que recarregar a página reinicia todos os dados. O roteiro completo está em docs/roteiro.md.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Conclua explicando a divisão de responsabilidades: dnd-kit coordena a interação e React mantém o estado da página. O exemplo demonstra reordenação, transferência entre listas e cancelamento. Uma extensão futura seria salvar a ordem em uma API. Os links abaixo apontam para a documentação oficial da API atual consultada em 26/10/2026. O projeto usa @dnd-kit/react 0.5.1. Tutoriais com DndContext e SortableContext usam a API legada. Referências: https://dndkit.com/react/quickstart/ https://dndkit.com/react/guides/multiple-sortable-lists/ https://dndkit.com/react/hooks/use-sortable/ https://dndkit.com/concepts/sortable/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44a2a274541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0b9ea67034f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47371f4164f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b438f67ee4e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47dacd6cd4a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8e1e0a3a8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CB6E92-38F3-4C3C-AB8F-13965470D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27A82B-4185-4E3C-97AD-2FBC363B02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61E29A-6EF9-4F0B-A86C-5AFCE71C6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73B708-579A-45EE-A2C0-93F3BE648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7D5481-06CF-4078-A296-41809BA57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1399DE-D4A2-4B27-862C-6FAAF0696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133B65-9506-4974-B8C5-315FA1741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3FC0B7-337C-4FFD-A6AC-D836BA5CE2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BF0C7C-7439-4F3C-ABB2-B964AA2C0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A44466-0FE5-4832-A191-8D88C0D6F2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d851a23c6242a6" /><Relationship Type="http://schemas.openxmlformats.org/officeDocument/2006/relationships/slideLayout" Target="/ppt/slideLayouts/slideLayout1.xml" Id="R87b3ec510f3a47bb" /><Relationship Type="http://schemas.openxmlformats.org/officeDocument/2006/relationships/slideLayout" Target="/ppt/slideLayouts/slideLayout2.xml" Id="R5937fb69c39f40c1" /><Relationship Type="http://schemas.openxmlformats.org/officeDocument/2006/relationships/slideLayout" Target="/ppt/slideLayouts/slideLayout3.xml" Id="Rd0e4cf5a343a4b16" /><Relationship Type="http://schemas.openxmlformats.org/officeDocument/2006/relationships/slideLayout" Target="/ppt/slideLayouts/slideLayout4.xml" Id="R792888aab4a84ddc" /><Relationship Type="http://schemas.openxmlformats.org/officeDocument/2006/relationships/slideLayout" Target="/ppt/slideLayouts/slideLayout5.xml" Id="Rfe22690626264db2" /><Relationship Type="http://schemas.openxmlformats.org/officeDocument/2006/relationships/slideLayout" Target="/ppt/slideLayouts/slideLayout6.xml" Id="R30b5d4473a554a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3ec510f3a47bb"/>
    <p:sldLayoutId xmlns:r="http://schemas.openxmlformats.org/officeDocument/2006/relationships" id="2147483650" r:id="R5937fb69c39f40c1"/>
    <p:sldLayoutId xmlns:r="http://schemas.openxmlformats.org/officeDocument/2006/relationships" id="2147483651" r:id="Rd0e4cf5a343a4b16"/>
    <p:sldLayoutId xmlns:r="http://schemas.openxmlformats.org/officeDocument/2006/relationships" id="2147483652" r:id="R792888aab4a84ddc"/>
    <p:sldLayoutId xmlns:r="http://schemas.openxmlformats.org/officeDocument/2006/relationships" id="2147483653" r:id="Rfe22690626264db2"/>
    <p:sldLayoutId xmlns:r="http://schemas.openxmlformats.org/officeDocument/2006/relationships" id="2147483654" r:id="R30b5d4473a554a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dcb48cc89420c" /><Relationship Type="http://schemas.openxmlformats.org/officeDocument/2006/relationships/notesSlide" Target="/ppt/notesSlides/notesSlide1.xml" Id="Rd2272405594e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2b24fcd044b2a" /><Relationship Type="http://schemas.openxmlformats.org/officeDocument/2006/relationships/notesSlide" Target="/ppt/notesSlides/notesSlide2.xml" Id="R16d5929cf9a6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ede866be3418d" /><Relationship Type="http://schemas.openxmlformats.org/officeDocument/2006/relationships/image" Target="/ppt/media/image.jpeg" Id="Rfa3ead3e953242ad" /><Relationship Type="http://schemas.openxmlformats.org/officeDocument/2006/relationships/notesSlide" Target="/ppt/notesSlides/notesSlide3.xml" Id="R4e962bb96a3a4d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fd5aa91344603" /><Relationship Type="http://schemas.openxmlformats.org/officeDocument/2006/relationships/notesSlide" Target="/ppt/notesSlides/notesSlide4.xml" Id="R51c7a76d13a2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af9c9c473488c" /><Relationship Type="http://schemas.openxmlformats.org/officeDocument/2006/relationships/notesSlide" Target="/ppt/notesSlides/notesSlide5.xml" Id="Rde5cc08910a1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ed562d8b14130" /><Relationship Type="http://schemas.openxmlformats.org/officeDocument/2006/relationships/notesSlide" Target="/ppt/notesSlides/notesSlide6.xml" Id="R77cc89bcc2194d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8b8b9edb44d80" /><Relationship Type="http://schemas.openxmlformats.org/officeDocument/2006/relationships/notesSlide" Target="/ppt/notesSlides/notesSlide7.xml" Id="R45ad1480ae46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b1b656f09477c" /><Relationship Type="http://schemas.openxmlformats.org/officeDocument/2006/relationships/hyperlink" Target="https://dndkit.com/react/quickstart/" TargetMode="External" Id="R63c1ecce77e643c1" /><Relationship Type="http://schemas.openxmlformats.org/officeDocument/2006/relationships/hyperlink" Target="https://dndkit.com/react/guides/multiple-sortable-lists/" TargetMode="External" Id="R437d0c0954f04539" /><Relationship Type="http://schemas.openxmlformats.org/officeDocument/2006/relationships/hyperlink" Target="https://dndkit.com/react/hooks/use-sortable/" TargetMode="External" Id="R0d79ec6fbd004281" /><Relationship Type="http://schemas.openxmlformats.org/officeDocument/2006/relationships/notesSlide" Target="/ppt/notesSlides/notesSlide8.xml" Id="R2fb55228704649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urse">
            <a:extLst xmlns:a="http://schemas.openxmlformats.org/drawingml/2006/main">
              <a:ext uri="{FF2B5EF4-FFF2-40B4-BE49-F238E27FC236}">
                <a16:creationId xmlns:a16="http://schemas.microsoft.com/office/drawing/2014/main" id="{D34B786D-49B1-4AE0-A247-9EF992C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Trabalho 9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85AD4B0-DCFE-4346-99E3-4E2B2C87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Gerenciamento de listas</a:t>
            </a:r>
          </a:p>
          <a:p xmlns:a="http://schemas.openxmlformats.org/drawingml/2006/main">
            <a:pPr>
              <a:defRPr sz="45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com dnd-kit e React</a:t>
            </a:r>
          </a:p>
        </p:txBody>
      </p:sp>
      <p:sp>
        <p:nvSpPr>
          <p:cNvPr id="3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2639D353-AD44-4ECC-9BBC-CFDAAF75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Um exemplo de arrastar e soltar tarefas</a:t>
            </a:r>
          </a:p>
        </p:txBody>
      </p:sp>
      <p:sp>
        <p:nvSpPr>
          <p:cNvPr id="4" name="course-name">
            <a:extLst xmlns:a="http://schemas.openxmlformats.org/drawingml/2006/main">
              <a:ext uri="{FF2B5EF4-FFF2-40B4-BE49-F238E27FC236}">
                <a16:creationId xmlns:a16="http://schemas.microsoft.com/office/drawing/2014/main" id="{9E8112B0-27D8-4128-9129-CE1F861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Projeto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1346399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9F57744-A75C-49D5-83C5-883D7635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 pacote dnd-kit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A26DC0-DD05-4E54-8074-3F8A704D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heading-180">
            <a:extLst xmlns:a="http://schemas.openxmlformats.org/drawingml/2006/main">
              <a:ext uri="{FF2B5EF4-FFF2-40B4-BE49-F238E27FC236}">
                <a16:creationId xmlns:a16="http://schemas.microsoft.com/office/drawing/2014/main" id="{E71B0F0F-8AE7-44CF-A7F9-E2C8E15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 que ele faz</a:t>
            </a:r>
          </a:p>
        </p:txBody>
      </p:sp>
      <p:sp>
        <p:nvSpPr>
          <p:cNvPr id="4" name="body-180">
            <a:extLst xmlns:a="http://schemas.openxmlformats.org/drawingml/2006/main">
              <a:ext uri="{FF2B5EF4-FFF2-40B4-BE49-F238E27FC236}">
                <a16:creationId xmlns:a16="http://schemas.microsoft.com/office/drawing/2014/main" id="{2B98E0A7-BFF8-4862-AA7D-E63AC09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Ajuda a criar elementos arrastáveis e áreas que recebem esses elementos.</a:t>
            </a:r>
          </a:p>
        </p:txBody>
      </p:sp>
      <p:sp>
        <p:nvSpPr>
          <p:cNvPr id="5" name="heading-330">
            <a:extLst xmlns:a="http://schemas.openxmlformats.org/drawingml/2006/main">
              <a:ext uri="{FF2B5EF4-FFF2-40B4-BE49-F238E27FC236}">
                <a16:creationId xmlns:a16="http://schemas.microsoft.com/office/drawing/2014/main" id="{A5D55336-F514-4037-B843-6AEA5E2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Onde pode ser usado</a:t>
            </a:r>
          </a:p>
        </p:txBody>
      </p:sp>
      <p:sp>
        <p:nvSpPr>
          <p:cNvPr id="6" name="body-330">
            <a:extLst xmlns:a="http://schemas.openxmlformats.org/drawingml/2006/main">
              <a:ext uri="{FF2B5EF4-FFF2-40B4-BE49-F238E27FC236}">
                <a16:creationId xmlns:a16="http://schemas.microsoft.com/office/drawing/2014/main" id="{8A119BA6-0756-4470-BC1F-A89C8B4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Quadros de tarefas, listas de prioridades e organização de itens.</a:t>
            </a:r>
          </a:p>
        </p:txBody>
      </p:sp>
      <p:sp>
        <p:nvSpPr>
          <p:cNvPr id="7" name="heading-480">
            <a:extLst xmlns:a="http://schemas.openxmlformats.org/drawingml/2006/main">
              <a:ext uri="{FF2B5EF4-FFF2-40B4-BE49-F238E27FC236}">
                <a16:creationId xmlns:a16="http://schemas.microsoft.com/office/drawing/2014/main" id="{1FFF8FE6-FE12-4C18-9FCA-B695FB0B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Integração com React</a:t>
            </a:r>
          </a:p>
        </p:txBody>
      </p:sp>
      <p:sp>
        <p:nvSpPr>
          <p:cNvPr id="8" name="body-480">
            <a:extLst xmlns:a="http://schemas.openxmlformats.org/drawingml/2006/main">
              <a:ext uri="{FF2B5EF4-FFF2-40B4-BE49-F238E27FC236}">
                <a16:creationId xmlns:a16="http://schemas.microsoft.com/office/drawing/2014/main" id="{245CBAD1-C5FD-4252-AF44-5F4FEE8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Os hooks conectam a interação aos componentes da interface.</a:t>
            </a:r>
          </a:p>
        </p:txBody>
      </p:sp>
    </p:spTree>
    <p:extLst>
      <p:ext uri="{BB962C8B-B14F-4D97-AF65-F5344CB8AC3E}">
        <p14:creationId xmlns:p14="http://schemas.microsoft.com/office/powerpoint/2010/main" val="1253177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B67FB0-5F0A-4ED7-B417-D1EAF4B8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 projeto de exemplo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05D431-32EA-4D15-B1AF-B807000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9AAC239-8802-4DC8-A193-B53030A7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Uma página com as listas A fazer, Em andamento e Concluído.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24A09-0E8E-4351-88C2-757262816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ead3e953242ad"/>
          <a:srcRect xmlns:a="http://schemas.openxmlformats.org/drawingml/2006/main" l="8000" t="31000" r="8000" b="28500"/>
          <a:stretch xmlns:a="http://schemas.openxmlformats.org/drawingml/2006/main"/>
        </p:blipFill>
        <p:spPr>
          <a:xfrm xmlns:a="http://schemas.openxmlformats.org/drawingml/2006/main">
            <a:off x="685800" y="2286000"/>
            <a:ext cx="10820400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55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5749D7E8-EFE4-4949-8A18-73D0FB46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Recursos usados no código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14149C-41AD-48A6-B42C-B285AEE7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source-0">
            <a:extLst xmlns:a="http://schemas.openxmlformats.org/drawingml/2006/main">
              <a:ext uri="{FF2B5EF4-FFF2-40B4-BE49-F238E27FC236}">
                <a16:creationId xmlns:a16="http://schemas.microsoft.com/office/drawing/2014/main" id="{934698E6-C24E-4C03-A8E7-285A5D0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DragDropProvider</a:t>
            </a:r>
          </a:p>
        </p:txBody>
      </p:sp>
      <p:sp>
        <p:nvSpPr>
          <p:cNvPr id="4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5051A4DF-9344-4015-BC45-B18A018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Coordena os eventos do quadro.</a:t>
            </a:r>
          </a:p>
        </p:txBody>
      </p:sp>
      <p:sp>
        <p:nvSpPr>
          <p:cNvPr id="5" name="resource-1">
            <a:extLst xmlns:a="http://schemas.openxmlformats.org/drawingml/2006/main">
              <a:ext uri="{FF2B5EF4-FFF2-40B4-BE49-F238E27FC236}">
                <a16:creationId xmlns:a16="http://schemas.microsoft.com/office/drawing/2014/main" id="{6D5B7D44-74D2-4458-BC39-DC2F2071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useSortable</a:t>
            </a:r>
          </a:p>
        </p:txBody>
      </p:sp>
      <p:sp>
        <p:nvSpPr>
          <p:cNvPr id="6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7244D0B4-DC99-4ED2-9E53-73E2F57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Torna o cartão arrastável e ordenável.</a:t>
            </a:r>
          </a:p>
        </p:txBody>
      </p:sp>
      <p:sp>
        <p:nvSpPr>
          <p:cNvPr id="7" name="resource-2">
            <a:extLst xmlns:a="http://schemas.openxmlformats.org/drawingml/2006/main">
              <a:ext uri="{FF2B5EF4-FFF2-40B4-BE49-F238E27FC236}">
                <a16:creationId xmlns:a16="http://schemas.microsoft.com/office/drawing/2014/main" id="{FD84F8F4-8750-4279-8EB7-5FE2B3C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useDroppable</a:t>
            </a:r>
          </a:p>
        </p:txBody>
      </p:sp>
      <p:sp>
        <p:nvSpPr>
          <p:cNvPr id="8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DD57A481-E5BB-4292-85EE-9C29761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Permite soltar cartões em uma lista vazia.</a:t>
            </a:r>
          </a:p>
        </p:txBody>
      </p:sp>
      <p:sp>
        <p:nvSpPr>
          <p:cNvPr id="9" name="resource-3">
            <a:extLst xmlns:a="http://schemas.openxmlformats.org/drawingml/2006/main">
              <a:ext uri="{FF2B5EF4-FFF2-40B4-BE49-F238E27FC236}">
                <a16:creationId xmlns:a16="http://schemas.microsoft.com/office/drawing/2014/main" id="{123EC779-1480-439F-8AC6-9F3467C8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move()</a:t>
            </a:r>
          </a:p>
        </p:txBody>
      </p:sp>
      <p:sp>
        <p:nvSpPr>
          <p:cNvPr id="10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3D5D4647-53EE-4F79-8EFE-1E06313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Calcula a nova distribuição dos cartões.</a:t>
            </a:r>
          </a:p>
        </p:txBody>
      </p:sp>
    </p:spTree>
    <p:extLst>
      <p:ext uri="{BB962C8B-B14F-4D97-AF65-F5344CB8AC3E}">
        <p14:creationId xmlns:p14="http://schemas.microsoft.com/office/powerpoint/2010/main" val="308101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B1ADF3-8122-4950-A996-188DAD5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 cartão arrastável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7EC138-5E1E-4685-96EC-5D3D45C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ode-label">
            <a:extLst xmlns:a="http://schemas.openxmlformats.org/drawingml/2006/main">
              <a:ext uri="{FF2B5EF4-FFF2-40B4-BE49-F238E27FC236}">
                <a16:creationId xmlns:a16="http://schemas.microsoft.com/office/drawing/2014/main" id="{C5EC2E17-E603-4837-96FC-273845A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Trecho central de TaskCard.jsx</a:t>
            </a:r>
          </a:p>
        </p:txBody>
      </p:sp>
      <p:sp>
        <p:nvSpPr>
          <p:cNvPr id="4" name="card-code">
            <a:extLst xmlns:a="http://schemas.openxmlformats.org/drawingml/2006/main">
              <a:ext uri="{FF2B5EF4-FFF2-40B4-BE49-F238E27FC236}">
                <a16:creationId xmlns:a16="http://schemas.microsoft.com/office/drawing/2014/main" id="{5FC9C7AE-48FF-4602-8684-DAE3DB1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const { ref, handleRef } = useSortable({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id: task.id,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index,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group: column,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// Outras configurações no arquivo completo.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&lt;article ref={ref}&gt;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&lt;span&gt;{task.title}&lt;/span&gt;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 &lt;button ref={handleRef}&gt;Arrastar&lt;/button&gt;</a:t>
            </a:r>
          </a:p>
          <a:p xmlns:a="http://schemas.openxmlformats.org/drawingml/2006/main">
            <a:pPr>
              <a:defRPr sz="202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&lt;/article&gt;</a:t>
            </a:r>
          </a:p>
        </p:txBody>
      </p:sp>
    </p:spTree>
    <p:extLst>
      <p:ext uri="{BB962C8B-B14F-4D97-AF65-F5344CB8AC3E}">
        <p14:creationId xmlns:p14="http://schemas.microsoft.com/office/powerpoint/2010/main" val="1439340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CB7FA7B5-67A3-4F96-93D5-FCA1A08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Eventos e atualização do estado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0D38C2-E52D-420A-A39E-3E2D32E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event-0">
            <a:extLst xmlns:a="http://schemas.openxmlformats.org/drawingml/2006/main">
              <a:ext uri="{FF2B5EF4-FFF2-40B4-BE49-F238E27FC236}">
                <a16:creationId xmlns:a16="http://schemas.microsoft.com/office/drawing/2014/main" id="{2A8653C5-5CA8-45E4-9DEC-86A3512C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onDragStart</a:t>
            </a:r>
          </a:p>
        </p:txBody>
      </p:sp>
      <p:sp>
        <p:nvSpPr>
          <p:cNvPr id="4" name="event-text-0">
            <a:extLst xmlns:a="http://schemas.openxmlformats.org/drawingml/2006/main">
              <a:ext uri="{FF2B5EF4-FFF2-40B4-BE49-F238E27FC236}">
                <a16:creationId xmlns:a16="http://schemas.microsoft.com/office/drawing/2014/main" id="{9C6086B2-6474-4DDD-AFEE-FEE4D4F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741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Guarda o estado anterior para permitir cancelar.</a:t>
            </a:r>
          </a:p>
        </p:txBody>
      </p:sp>
      <p:sp>
        <p:nvSpPr>
          <p:cNvPr id="5" name="event-1">
            <a:extLst xmlns:a="http://schemas.openxmlformats.org/drawingml/2006/main">
              <a:ext uri="{FF2B5EF4-FFF2-40B4-BE49-F238E27FC236}">
                <a16:creationId xmlns:a16="http://schemas.microsoft.com/office/drawing/2014/main" id="{BC07EE38-D9F4-42EE-A295-997488F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onDragOver</a:t>
            </a:r>
          </a:p>
        </p:txBody>
      </p:sp>
      <p:sp>
        <p:nvSpPr>
          <p:cNvPr id="6" name="event-text-1">
            <a:extLst xmlns:a="http://schemas.openxmlformats.org/drawingml/2006/main">
              <a:ext uri="{FF2B5EF4-FFF2-40B4-BE49-F238E27FC236}">
                <a16:creationId xmlns:a16="http://schemas.microsoft.com/office/drawing/2014/main" id="{7BD9F9FF-CB09-48C7-849A-D1FBD2D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741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Calcula e aplica a nova posição do cartão.</a:t>
            </a:r>
          </a:p>
        </p:txBody>
      </p:sp>
      <p:sp>
        <p:nvSpPr>
          <p:cNvPr id="7" name="event-2">
            <a:extLst xmlns:a="http://schemas.openxmlformats.org/drawingml/2006/main">
              <a:ext uri="{FF2B5EF4-FFF2-40B4-BE49-F238E27FC236}">
                <a16:creationId xmlns:a16="http://schemas.microsoft.com/office/drawing/2014/main" id="{D75D3A1C-01C3-4CAC-9423-27EA933E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onDragEnd</a:t>
            </a:r>
          </a:p>
        </p:txBody>
      </p:sp>
      <p:sp>
        <p:nvSpPr>
          <p:cNvPr id="8" name="event-text-2">
            <a:extLst xmlns:a="http://schemas.openxmlformats.org/drawingml/2006/main">
              <a:ext uri="{FF2B5EF4-FFF2-40B4-BE49-F238E27FC236}">
                <a16:creationId xmlns:a16="http://schemas.microsoft.com/office/drawing/2014/main" id="{A1EACFCF-4FD3-4307-B967-47E1E9F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741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Confirma a mudança ou restaura o estado anterior.</a:t>
            </a:r>
          </a:p>
        </p:txBody>
      </p:sp>
      <p:sp>
        <p:nvSpPr>
          <p:cNvPr id="9" name="state-code">
            <a:extLst xmlns:a="http://schemas.openxmlformats.org/drawingml/2006/main">
              <a:ext uri="{FF2B5EF4-FFF2-40B4-BE49-F238E27FC236}">
                <a16:creationId xmlns:a16="http://schemas.microsoft.com/office/drawing/2014/main" id="{184EB788-790F-43FB-B591-8FE9999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setTasks((current) =&gt; move(current, event));</a:t>
            </a:r>
          </a:p>
        </p:txBody>
      </p:sp>
    </p:spTree>
    <p:extLst>
      <p:ext uri="{BB962C8B-B14F-4D97-AF65-F5344CB8AC3E}">
        <p14:creationId xmlns:p14="http://schemas.microsoft.com/office/powerpoint/2010/main" val="1682812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C48F463-79ED-4030-B3A4-F668FF0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Demonstração em sala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1C28BE-7E9A-4500-966C-5893D74A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demo-step-0">
            <a:extLst xmlns:a="http://schemas.openxmlformats.org/drawingml/2006/main">
              <a:ext uri="{FF2B5EF4-FFF2-40B4-BE49-F238E27FC236}">
                <a16:creationId xmlns:a16="http://schemas.microsoft.com/office/drawing/2014/main" id="{3E335D63-9597-42DE-A348-8C6ABD1E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1. Adicionar uma tarefa pelo formulário.</a:t>
            </a:r>
          </a:p>
        </p:txBody>
      </p:sp>
      <p:sp>
        <p:nvSpPr>
          <p:cNvPr id="4" name="demo-step-1">
            <a:extLst xmlns:a="http://schemas.openxmlformats.org/drawingml/2006/main">
              <a:ext uri="{FF2B5EF4-FFF2-40B4-BE49-F238E27FC236}">
                <a16:creationId xmlns:a16="http://schemas.microsoft.com/office/drawing/2014/main" id="{E0E0BE8B-B6E8-494B-AEC7-65DA5A9C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2. Mudar a ordem dos cartões na mesma lista.</a:t>
            </a:r>
          </a:p>
        </p:txBody>
      </p:sp>
      <p:sp>
        <p:nvSpPr>
          <p:cNvPr id="5" name="demo-step-2">
            <a:extLst xmlns:a="http://schemas.openxmlformats.org/drawingml/2006/main">
              <a:ext uri="{FF2B5EF4-FFF2-40B4-BE49-F238E27FC236}">
                <a16:creationId xmlns:a16="http://schemas.microsoft.com/office/drawing/2014/main" id="{5C3D3E85-2C99-44DE-B176-9F0F7F93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3. Mover uma tarefa para outra lista.</a:t>
            </a:r>
          </a:p>
        </p:txBody>
      </p:sp>
      <p:sp>
        <p:nvSpPr>
          <p:cNvPr id="6" name="demo-step-3">
            <a:extLst xmlns:a="http://schemas.openxmlformats.org/drawingml/2006/main">
              <a:ext uri="{FF2B5EF4-FFF2-40B4-BE49-F238E27FC236}">
                <a16:creationId xmlns:a16="http://schemas.microsoft.com/office/drawing/2014/main" id="{DE49B1D6-9616-4436-932C-0FDDE3B2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4. Soltar um cartão em uma lista vazia.</a:t>
            </a:r>
          </a:p>
        </p:txBody>
      </p:sp>
      <p:sp>
        <p:nvSpPr>
          <p:cNvPr id="7" name="demo-step-4">
            <a:extLst xmlns:a="http://schemas.openxmlformats.org/drawingml/2006/main">
              <a:ext uri="{FF2B5EF4-FFF2-40B4-BE49-F238E27FC236}">
                <a16:creationId xmlns:a16="http://schemas.microsoft.com/office/drawing/2014/main" id="{1CBDE403-81AA-45C9-A600-24A1C458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5. Cancelar um movimento com Esc.</a:t>
            </a:r>
          </a:p>
        </p:txBody>
      </p:sp>
      <p:sp>
        <p:nvSpPr>
          <p:cNvPr id="8" name="memory-note">
            <a:extLst xmlns:a="http://schemas.openxmlformats.org/drawingml/2006/main">
              <a:ext uri="{FF2B5EF4-FFF2-40B4-BE49-F238E27FC236}">
                <a16:creationId xmlns:a16="http://schemas.microsoft.com/office/drawing/2014/main" id="{BA9D360D-C5D3-4354-89C7-46C0B51F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Os dados ficam na memória e reiniciam ao recarregar a página.</a:t>
            </a:r>
          </a:p>
        </p:txBody>
      </p:sp>
    </p:spTree>
    <p:extLst>
      <p:ext uri="{BB962C8B-B14F-4D97-AF65-F5344CB8AC3E}">
        <p14:creationId xmlns:p14="http://schemas.microsoft.com/office/powerpoint/2010/main" val="1032149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D28D240-C3AC-4E96-AC7E-9AA40548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Conclusão e referências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DE0F25-0C32-40A4-8EB6-B3B4057D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0E490DDA-4704-416D-9A03-C365D201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 dnd-kit cuida da interação.</a:t>
            </a:r>
          </a:p>
          <a:p xmlns:a="http://schemas.openxmlformats.org/drawingml/2006/main">
            <a:pPr>
              <a:defRPr sz="25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 React mantém os dados e atualiza a tela.</a:t>
            </a:r>
          </a:p>
        </p:txBody>
      </p:sp>
      <p:sp>
        <p:nvSpPr>
          <p:cNvPr id="4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23BF8426-5F12-41E9-BFD6-1C142023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5F9E"/>
                </a:solidFill>
                <a:latin typeface="Arial"/>
                <a:ea typeface="Arial"/>
                <a:cs typeface="Arial"/>
              </a:rPr>
              <a:t>Documentação oficial</a:t>
            </a:r>
          </a:p>
        </p:txBody>
      </p:sp>
      <p:sp>
        <p:nvSpPr>
          <p:cNvPr id="5" name="reference-0">
            <a:extLst xmlns:a="http://schemas.openxmlformats.org/drawingml/2006/main">
              <a:ext uri="{FF2B5EF4-FFF2-40B4-BE49-F238E27FC236}">
                <a16:creationId xmlns:a16="http://schemas.microsoft.com/office/drawing/2014/main" id="{ADF7EFAD-7465-4C4B-9298-2696D0B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5F9E"/>
                </a:solidFill>
                <a:latin typeface="Arial"/>
                <a:ea typeface="Arial"/>
                <a:cs typeface="Arial"/>
                <a:hlinkClick xmlns:r="http://schemas.openxmlformats.org/officeDocument/2006/relationships" r:id="R63c1ecce77e643c1"/>
              </a:rPr>
              <a:t>Introdução ao dnd-kit para React</a:t>
            </a:r>
          </a:p>
        </p:txBody>
      </p:sp>
      <p:sp>
        <p:nvSpPr>
          <p:cNvPr id="6" name="reference-1">
            <a:extLst xmlns:a="http://schemas.openxmlformats.org/drawingml/2006/main">
              <a:ext uri="{FF2B5EF4-FFF2-40B4-BE49-F238E27FC236}">
                <a16:creationId xmlns:a16="http://schemas.microsoft.com/office/drawing/2014/main" id="{178296D2-D40B-4213-82E5-C7C0FE7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5F9E"/>
                </a:solidFill>
                <a:latin typeface="Arial"/>
                <a:ea typeface="Arial"/>
                <a:cs typeface="Arial"/>
                <a:hlinkClick xmlns:r="http://schemas.openxmlformats.org/officeDocument/2006/relationships" r:id="R437d0c0954f04539"/>
              </a:rPr>
              <a:t>Múltiplas listas ordenáveis</a:t>
            </a:r>
          </a:p>
        </p:txBody>
      </p:sp>
      <p:sp>
        <p:nvSpPr>
          <p:cNvPr id="7" name="reference-2">
            <a:extLst xmlns:a="http://schemas.openxmlformats.org/drawingml/2006/main">
              <a:ext uri="{FF2B5EF4-FFF2-40B4-BE49-F238E27FC236}">
                <a16:creationId xmlns:a16="http://schemas.microsoft.com/office/drawing/2014/main" id="{A4A03E9C-EC90-4981-8C4E-DDF4444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F5F9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5F9E"/>
                </a:solidFill>
                <a:latin typeface="Arial"/>
                <a:ea typeface="Arial"/>
                <a:cs typeface="Arial"/>
                <a:hlinkClick xmlns:r="http://schemas.openxmlformats.org/officeDocument/2006/relationships" r:id="R0d79ec6fbd004281"/>
              </a:rPr>
              <a:t>Hook useSortable</a:t>
            </a:r>
          </a:p>
        </p:txBody>
      </p:sp>
    </p:spTree>
    <p:extLst>
      <p:ext uri="{BB962C8B-B14F-4D97-AF65-F5344CB8AC3E}">
        <p14:creationId xmlns:p14="http://schemas.microsoft.com/office/powerpoint/2010/main" val="103875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2026-10-27T00:21:02.3170000Z</dcterms:created>
  <dcterms:modified xsi:type="dcterms:W3CDTF">2026-10-27T00:21:02.3170000Z</dcterms:modified>
</coreProperties>
</file>